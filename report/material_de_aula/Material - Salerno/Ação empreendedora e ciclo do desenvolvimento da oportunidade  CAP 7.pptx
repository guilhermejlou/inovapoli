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9" r:id="rId3"/>
    <p:sldId id="258" r:id="rId4"/>
    <p:sldId id="260" r:id="rId5"/>
    <p:sldId id="266" r:id="rId6"/>
    <p:sldId id="267" r:id="rId7"/>
    <p:sldId id="263" r:id="rId8"/>
    <p:sldId id="277" r:id="rId9"/>
    <p:sldId id="261" r:id="rId10"/>
    <p:sldId id="264" r:id="rId11"/>
    <p:sldId id="271" r:id="rId12"/>
    <p:sldId id="269" r:id="rId13"/>
    <p:sldId id="268" r:id="rId14"/>
    <p:sldId id="286" r:id="rId15"/>
    <p:sldId id="287" r:id="rId16"/>
    <p:sldId id="272" r:id="rId17"/>
    <p:sldId id="270" r:id="rId18"/>
    <p:sldId id="273" r:id="rId19"/>
    <p:sldId id="275" r:id="rId20"/>
    <p:sldId id="278" r:id="rId21"/>
    <p:sldId id="280" r:id="rId22"/>
    <p:sldId id="274" r:id="rId23"/>
    <p:sldId id="282" r:id="rId24"/>
    <p:sldId id="283" r:id="rId25"/>
    <p:sldId id="284" r:id="rId26"/>
    <p:sldId id="285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CC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B5875-D4F6-4264-B1C6-20D1C096F333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C2027-A76C-43A2-B915-4C90C17AEE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3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84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7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5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4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84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36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88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22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37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38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20" name="Espaço Reservado para Número de Slid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9AC9EDC-721F-4347-A013-9F6F3AED7D58}" type="slidenum">
              <a:rPr lang="pt-BR" altLang="pt-BR" smtClean="0">
                <a:solidFill>
                  <a:srgbClr val="000000"/>
                </a:solidFill>
              </a:rPr>
              <a:pPr/>
              <a:t>14</a:t>
            </a:fld>
            <a:endParaRPr lang="pt-BR" alt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605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94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45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53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65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78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13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00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4A42A34-B26C-4FDE-AEF5-52D239C5FA3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82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9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5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19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4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1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2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87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1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6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2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A5453-2CCA-418C-8E82-846D54FFD96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2E7B7-2318-4240-A3FD-FE0218A0A4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5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eladeirasantigas.com.br/conteudo.asp?idpag=18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i="1">
              <a:latin typeface="Arial" charset="0"/>
              <a:ea typeface="ＭＳ Ｐゴシック" charset="0"/>
            </a:endParaRPr>
          </a:p>
        </p:txBody>
      </p:sp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279712" y="116701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Ação empreendedora e ciclo do desenvolvimento da oportunidade:</a:t>
            </a:r>
            <a:b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da ideia ao negócio</a:t>
            </a:r>
            <a:endParaRPr lang="en-US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78155" y="4885748"/>
            <a:ext cx="9282954" cy="1655762"/>
          </a:xfrm>
        </p:spPr>
        <p:txBody>
          <a:bodyPr>
            <a:normAutofit/>
          </a:bodyPr>
          <a:lstStyle/>
          <a:p>
            <a:r>
              <a:rPr lang="pt-BR" sz="1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Fonte: Salerno, </a:t>
            </a:r>
            <a:r>
              <a:rPr lang="pt-BR" sz="1600" dirty="0" err="1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M.S</a:t>
            </a:r>
            <a:r>
              <a:rPr lang="pt-BR" sz="1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.; Gomes, </a:t>
            </a:r>
            <a:r>
              <a:rPr lang="pt-BR" sz="1600" dirty="0" err="1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L.A.V</a:t>
            </a:r>
            <a:r>
              <a:rPr lang="pt-BR" sz="1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 Gestão da inovação mais radical. Rio de Janeiro: Elsevier, 2018. Cap.7, p.181-212</a:t>
            </a:r>
            <a:r>
              <a:rPr lang="pt-BR" sz="16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</a:t>
            </a:r>
            <a:endParaRPr lang="en-US" sz="16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0" y="3926750"/>
            <a:ext cx="19050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21662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1109867"/>
            <a:ext cx="12151659" cy="5656052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 </a:t>
            </a: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Reconhecimento ou criação de oportunidade de negócios</a:t>
            </a: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Avaliação, seleção e exploração de oportunidade por meio do desenvolvimento de produto-serviço, envolvendo a criação de empresa (startup)</a:t>
            </a:r>
          </a:p>
          <a:p>
            <a:pPr marL="0" indent="0">
              <a:buClr>
                <a:srgbClr val="C00000"/>
              </a:buClr>
              <a:buNone/>
            </a:pPr>
            <a:b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pt-BR" sz="3600" dirty="0">
                <a:solidFill>
                  <a:srgbClr val="CC0099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Oportunidade .... várias definições!</a:t>
            </a:r>
          </a:p>
          <a:p>
            <a:pPr marL="901700" lvl="1">
              <a:spcBef>
                <a:spcPts val="1800"/>
              </a:spcBef>
              <a:buClr>
                <a:srgbClr val="C00000"/>
              </a:buClr>
              <a:buFont typeface="Webdings" panose="05030102010509060703" pitchFamily="18" charset="2"/>
              <a:buChar char="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3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se refere a problema de mercado / necessidade de cliente(s)</a:t>
            </a:r>
          </a:p>
          <a:p>
            <a:pPr marL="1169988" lvl="1" indent="-496888" defTabSz="901700">
              <a:spcBef>
                <a:spcPts val="1800"/>
              </a:spcBef>
              <a:buClr>
                <a:srgbClr val="C00000"/>
              </a:buClr>
              <a:buFont typeface="Webdings" panose="05030102010509060703" pitchFamily="18" charset="2"/>
              <a:buChar char=""/>
            </a:pPr>
            <a:r>
              <a:rPr lang="pt-BR" sz="3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demanda a mobilização e combinação de recursos para o desenvolvimento de produto-serviço</a:t>
            </a: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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-47428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pt-BR" sz="40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Ação empreendedora 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21360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-47428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pt-BR" sz="40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Oportunidade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5" name="Texto explicativo retangular com cantos arredondados 4"/>
          <p:cNvSpPr/>
          <p:nvPr/>
        </p:nvSpPr>
        <p:spPr>
          <a:xfrm>
            <a:off x="54818" y="5154751"/>
            <a:ext cx="2992582" cy="1596788"/>
          </a:xfrm>
          <a:prstGeom prst="wedgeRoundRectCallout">
            <a:avLst>
              <a:gd name="adj1" fmla="val 9837"/>
              <a:gd name="adj2" fmla="val -324499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imaginada</a:t>
            </a:r>
            <a:endParaRPr lang="en-US" sz="3600" dirty="0">
              <a:solidFill>
                <a:srgbClr val="FFFF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2" name="Texto explicativo retangular com cantos arredondados 11"/>
          <p:cNvSpPr/>
          <p:nvPr/>
        </p:nvSpPr>
        <p:spPr>
          <a:xfrm>
            <a:off x="3047400" y="3557963"/>
            <a:ext cx="2992582" cy="1596788"/>
          </a:xfrm>
          <a:prstGeom prst="wedgeRoundRectCallout">
            <a:avLst>
              <a:gd name="adj1" fmla="val -74886"/>
              <a:gd name="adj2" fmla="val -222984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relatada por clientes</a:t>
            </a:r>
            <a:endParaRPr lang="en-US" sz="3600" dirty="0">
              <a:solidFill>
                <a:srgbClr val="FFFF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3" name="Texto explicativo retangular com cantos arredondados 12"/>
          <p:cNvSpPr/>
          <p:nvPr/>
        </p:nvSpPr>
        <p:spPr>
          <a:xfrm>
            <a:off x="6039982" y="2287326"/>
            <a:ext cx="2992582" cy="1596788"/>
          </a:xfrm>
          <a:prstGeom prst="wedgeRoundRectCallout">
            <a:avLst>
              <a:gd name="adj1" fmla="val -146413"/>
              <a:gd name="adj2" fmla="val -142293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reconhecida</a:t>
            </a:r>
            <a:endParaRPr lang="en-US" sz="3600" dirty="0">
              <a:solidFill>
                <a:srgbClr val="FFFF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4" name="Texto explicativo retangular com cantos arredondados 13"/>
          <p:cNvSpPr/>
          <p:nvPr/>
        </p:nvSpPr>
        <p:spPr>
          <a:xfrm>
            <a:off x="9032564" y="968293"/>
            <a:ext cx="2992582" cy="1596788"/>
          </a:xfrm>
          <a:prstGeom prst="wedgeRoundRectCallout">
            <a:avLst>
              <a:gd name="adj1" fmla="val -224886"/>
              <a:gd name="adj2" fmla="val -61602"/>
              <a:gd name="adj3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criada</a:t>
            </a:r>
            <a:endParaRPr lang="en-US" sz="3600" dirty="0">
              <a:solidFill>
                <a:srgbClr val="FFFF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1055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520608"/>
            <a:ext cx="12151659" cy="6262715"/>
          </a:xfrm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pt-BR" sz="44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Oportunidade imaginada</a:t>
            </a:r>
            <a:endParaRPr lang="pt-BR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32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Livup</a:t>
            </a: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, </a:t>
            </a:r>
            <a:r>
              <a:rPr lang="pt-BR" sz="32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GynPass</a:t>
            </a: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None/>
            </a:pPr>
            <a:r>
              <a:rPr lang="pt-BR" sz="44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Oportunidade percebida</a:t>
            </a: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32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Mvisia</a:t>
            </a: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Geladeira</a:t>
            </a: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lvl="1" indent="0">
              <a:spcBef>
                <a:spcPts val="1000"/>
              </a:spcBef>
              <a:buClr>
                <a:srgbClr val="C00000"/>
              </a:buClr>
              <a:buNone/>
            </a:pPr>
            <a:r>
              <a:rPr lang="pt-BR" sz="44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Oportunidade criada</a:t>
            </a: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 </a:t>
            </a:r>
            <a:r>
              <a:rPr lang="pt-BR" sz="32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LeanSurvey</a:t>
            </a: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Apple (comp. pessoal), Nokia (celular), 3M (Post It) ...</a:t>
            </a: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None/>
            </a:pPr>
            <a:b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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94623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206" y="-457200"/>
            <a:ext cx="6033440" cy="7600950"/>
          </a:xfrm>
          <a:prstGeom prst="rect">
            <a:avLst/>
          </a:prstGeom>
        </p:spPr>
      </p:pic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016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Clr>
                <a:srgbClr val="C00000"/>
              </a:buClr>
            </a:pPr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rPr>
              <a:t>Geladeira</a:t>
            </a:r>
            <a:endParaRPr lang="en-US" sz="20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+mn-cs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71713" y="927760"/>
            <a:ext cx="12192000" cy="5517217"/>
          </a:xfrm>
        </p:spPr>
        <p:txBody>
          <a:bodyPr>
            <a:noAutofit/>
          </a:bodyPr>
          <a:lstStyle/>
          <a:p>
            <a:pPr marL="0" indent="0">
              <a:buClr>
                <a:srgbClr val="C00000"/>
              </a:buClr>
              <a:buNone/>
            </a:pPr>
            <a:endParaRPr lang="pt-BR" sz="18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lvl="1" indent="-441325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None/>
            </a:pPr>
            <a:b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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1422504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016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Clr>
                <a:srgbClr val="C00000"/>
              </a:buClr>
            </a:pPr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rPr>
              <a:t>Geladeira  </a:t>
            </a:r>
            <a:r>
              <a:rPr lang="en-US" sz="2000" dirty="0">
                <a:hlinkClick r:id="rId4"/>
              </a:rPr>
              <a:t>http://www.geladeirasantigas.com.br/conteudo.asp?idpag=183</a:t>
            </a:r>
            <a:endParaRPr lang="en-US" sz="20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+mn-cs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71713" y="927760"/>
            <a:ext cx="12192000" cy="5517217"/>
          </a:xfrm>
        </p:spPr>
        <p:txBody>
          <a:bodyPr>
            <a:noAutofit/>
          </a:bodyPr>
          <a:lstStyle/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1748: 1ª máquina: Willian 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Cullen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, Univ. Glasgow </a:t>
            </a:r>
            <a:r>
              <a:rPr lang="pt-BR" sz="24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sem uso prático</a:t>
            </a:r>
            <a:endParaRPr lang="pt-BR" sz="2400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1805: projeto da 1ª máquina com ciclo de vapor, Oliver Evans (EUA) 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não construída </a:t>
            </a:r>
            <a:endParaRPr lang="pt-BR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1818: Jacob 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Perkins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mostra compressibilidade da água </a:t>
            </a:r>
            <a:r>
              <a:rPr lang="pt-BR" sz="18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(princípio da refrigeração)</a:t>
            </a:r>
            <a:endParaRPr lang="pt-BR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1834: J. 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Perkins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muda projeto de Evans, constrói máquina 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1ª patente</a:t>
            </a: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1844: John 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Gorrie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18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refrigerador de ar para hospital, </a:t>
            </a:r>
            <a:r>
              <a:rPr lang="pt-BR" sz="24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EUA</a:t>
            </a:r>
            <a:r>
              <a:rPr lang="pt-BR" sz="18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16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(pai do ar condicionado)</a:t>
            </a: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1913: “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Domelre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” 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1º refrigerador doméstico 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(Fred Wolff Jr, Chicago </a:t>
            </a:r>
            <a:r>
              <a:rPr lang="pt-BR" sz="16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pouco sucesso)</a:t>
            </a:r>
            <a:endParaRPr lang="pt-BR" sz="2000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1916: Cia “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Kelvinator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” 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1º sucesso comercial doméstico</a:t>
            </a: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1925: Geladeira e compressor na mesma “caixa”</a:t>
            </a:r>
            <a:endParaRPr lang="pt-BR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1927: “Monitor Top”, GE 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1º sucesso mundial, + 1Mi de </a:t>
            </a:r>
            <a:r>
              <a:rPr lang="pt-BR" sz="24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unidades (a SO</a:t>
            </a:r>
            <a:r>
              <a:rPr lang="pt-BR" sz="2400" baseline="-25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2</a:t>
            </a:r>
            <a:r>
              <a:rPr lang="pt-BR" sz="24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)</a:t>
            </a:r>
            <a:endParaRPr lang="pt-BR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1928: CFC substitui gases tóxicos 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SO</a:t>
            </a:r>
            <a:r>
              <a:rPr lang="pt-BR" sz="2000" baseline="-25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2, 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amônia, cloreto de metila). Dupont: </a:t>
            </a:r>
            <a:r>
              <a:rPr lang="pt-BR" sz="2000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freon</a:t>
            </a:r>
            <a:r>
              <a:rPr lang="pt-BR" sz="2000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1931</a:t>
            </a:r>
            <a:endParaRPr lang="pt-BR" sz="2000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1973: descoberta que </a:t>
            </a:r>
            <a:r>
              <a:rPr lang="pt-BR" dirty="0" err="1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freon</a:t>
            </a:r>
            <a:r>
              <a:rPr lang="pt-BR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faz mal à camada de ozônio</a:t>
            </a: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endParaRPr lang="pt-BR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41325" indent="-441325">
              <a:buClr>
                <a:srgbClr val="C00000"/>
              </a:buClr>
              <a:buFont typeface="+mj-lt"/>
              <a:buAutoNum type="arabicPeriod"/>
            </a:pPr>
            <a:r>
              <a:rPr lang="pt-BR" sz="18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...</a:t>
            </a:r>
          </a:p>
          <a:p>
            <a:pPr marL="441325" lvl="1" indent="-441325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1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None/>
            </a:pPr>
            <a:b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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576555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-47428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pt-BR" sz="40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Características da ação empreendedora 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0" y="1039091"/>
            <a:ext cx="12151659" cy="6111345"/>
          </a:xfrm>
        </p:spPr>
        <p:txBody>
          <a:bodyPr>
            <a:noAutofit/>
          </a:bodyPr>
          <a:lstStyle/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Envolta em incertezas 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</a:t>
            </a:r>
            <a:r>
              <a:rPr lang="pt-BR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KIEs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, </a:t>
            </a:r>
            <a:r>
              <a:rPr lang="pt-BR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ENBTs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)</a:t>
            </a: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40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Effectuation</a:t>
            </a: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x </a:t>
            </a:r>
            <a:r>
              <a:rPr lang="pt-BR" sz="40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causation</a:t>
            </a:r>
            <a:endParaRPr lang="pt-BR" sz="40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Heurísticas (processo decisório)</a:t>
            </a: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Perseverar ou </a:t>
            </a:r>
            <a:r>
              <a:rPr lang="pt-BR" sz="40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pivotar</a:t>
            </a: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(direção)</a:t>
            </a: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Criação de ecossistema de inovação, não só de firma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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7452937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61443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61444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3193213"/>
      </p:ext>
    </p:extLst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473" y="0"/>
            <a:ext cx="12297131" cy="7356764"/>
          </a:xfrm>
          <a:prstGeom prst="rect">
            <a:avLst/>
          </a:prstGeom>
        </p:spPr>
      </p:pic>
      <p:pic>
        <p:nvPicPr>
          <p:cNvPr id="5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103909" y="0"/>
            <a:ext cx="5008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</a:rPr>
              <a:t>Ciclo de geração de valor na ação empreendedora </a:t>
            </a:r>
            <a:r>
              <a:rPr lang="pt-BR" sz="2400" dirty="0">
                <a:solidFill>
                  <a:srgbClr val="C00000"/>
                </a:solidFill>
              </a:rPr>
              <a:t>(fig. 7.10)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73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" y="607181"/>
            <a:ext cx="11575472" cy="228466"/>
          </a:xfrm>
        </p:spPr>
        <p:txBody>
          <a:bodyPr>
            <a:normAutofit fontScale="90000"/>
          </a:bodyPr>
          <a:lstStyle/>
          <a:p>
            <a:r>
              <a:rPr lang="pt-BR" sz="4900" i="1" dirty="0" err="1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Entrepreneurial</a:t>
            </a:r>
            <a:r>
              <a:rPr lang="pt-BR" sz="49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4900" i="1" dirty="0" err="1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thinking</a:t>
            </a:r>
            <a:r>
              <a:rPr lang="pt-BR" sz="49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28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(no ciclo de geração de valor)</a:t>
            </a:r>
            <a:br>
              <a:rPr lang="pt-BR" sz="24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0" y="1039091"/>
            <a:ext cx="12151659" cy="6111345"/>
          </a:xfrm>
        </p:spPr>
        <p:txBody>
          <a:bodyPr>
            <a:noAutofit/>
          </a:bodyPr>
          <a:lstStyle/>
          <a:p>
            <a:pPr marL="0" indent="0" algn="ctr">
              <a:buClr>
                <a:srgbClr val="C00000"/>
              </a:buClr>
              <a:buSzPct val="70000"/>
              <a:buNone/>
            </a:pPr>
            <a:r>
              <a:rPr lang="pt-BR" sz="40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Identificar e explorar uma oportunidade</a:t>
            </a:r>
            <a:endParaRPr lang="pt-BR" sz="3600" dirty="0">
              <a:solidFill>
                <a:srgbClr val="00B0F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4000" i="1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Effectuation</a:t>
            </a: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x </a:t>
            </a:r>
            <a:r>
              <a:rPr lang="pt-BR" sz="4000" i="1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causation</a:t>
            </a:r>
            <a:r>
              <a:rPr lang="pt-BR" sz="4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 (o que tem “na mão”)</a:t>
            </a:r>
            <a:br>
              <a:rPr lang="pt-BR" sz="4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4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</a:t>
            </a:r>
            <a:r>
              <a:rPr lang="pt-BR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jantar com o que “tem” x comprar ingredientes de receita</a:t>
            </a:r>
            <a:endParaRPr lang="pt-BR" i="1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Heurísticas (processo decisório)</a:t>
            </a: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Perseverar ou </a:t>
            </a:r>
            <a:r>
              <a:rPr lang="pt-BR" sz="40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pivotar</a:t>
            </a: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(direção)</a:t>
            </a: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457200" indent="-457200">
              <a:buClr>
                <a:srgbClr val="C00000"/>
              </a:buClr>
              <a:buSzPct val="70000"/>
              <a:buFont typeface="HoloLens MDL2 Assets" panose="050A0102010101010101" pitchFamily="18" charset="0"/>
              <a:buChar char=""/>
            </a:pPr>
            <a:r>
              <a:rPr lang="pt-BR" sz="40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Criar ecossistema de inovação, não só firma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8163" indent="-538163">
              <a:buClr>
                <a:srgbClr val="C00000"/>
              </a:buClr>
              <a:buFont typeface="Webdings" panose="05030102010509060703" pitchFamily="18" charset="2"/>
              <a:buChar char=""/>
            </a:pPr>
            <a:endParaRPr lang="pt-BR" sz="32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rgbClr val="C00000"/>
              </a:buClr>
              <a:buFont typeface="Webdings" panose="05030102010509060703" pitchFamily="18" charset="2"/>
              <a:buChar char=""/>
            </a:pP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053632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473" y="0"/>
            <a:ext cx="12297131" cy="7356764"/>
          </a:xfrm>
          <a:prstGeom prst="rect">
            <a:avLst/>
          </a:prstGeom>
        </p:spPr>
      </p:pic>
      <p:pic>
        <p:nvPicPr>
          <p:cNvPr id="5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103909" y="0"/>
            <a:ext cx="5008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</a:rPr>
              <a:t>Ciclo de geração de valor na ação empreendedora </a:t>
            </a:r>
            <a:r>
              <a:rPr lang="pt-BR" sz="2400" dirty="0">
                <a:solidFill>
                  <a:srgbClr val="C00000"/>
                </a:solidFill>
              </a:rPr>
              <a:t>(fig. 7.10)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2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8"/>
            <a:ext cx="11353800" cy="1325563"/>
          </a:xfrm>
        </p:spPr>
        <p:txBody>
          <a:bodyPr>
            <a:normAutofit/>
          </a:bodyPr>
          <a:lstStyle/>
          <a:p>
            <a:pPr algn="l"/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Design </a:t>
            </a:r>
            <a:r>
              <a:rPr lang="pt-BR" i="1" dirty="0" err="1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thinking</a:t>
            </a:r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32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(no ciclo de geração de valor)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841546"/>
            <a:ext cx="12151659" cy="6016454"/>
          </a:xfrm>
        </p:spPr>
        <p:txBody>
          <a:bodyPr>
            <a:noAutofit/>
          </a:bodyPr>
          <a:lstStyle/>
          <a:p>
            <a:pPr marL="0" indent="0" algn="ctr">
              <a:buClr>
                <a:srgbClr val="C00000"/>
              </a:buClr>
              <a:buSzPct val="70000"/>
              <a:buNone/>
            </a:pPr>
            <a:r>
              <a:rPr lang="pt-BR" sz="40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Após criar oportunidade e expandir rede de recursos (ecossistema) </a:t>
            </a:r>
            <a:r>
              <a:rPr lang="pt-BR" sz="40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criação de artefatos</a:t>
            </a:r>
            <a:endParaRPr lang="pt-BR" sz="3600" dirty="0">
              <a:solidFill>
                <a:srgbClr val="00B0F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r>
              <a:rPr lang="pt-BR" sz="36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Transformar a oportunidade (ideia fluida) em produtos e serviços vendáveis</a:t>
            </a: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r>
              <a:rPr lang="pt-BR" sz="36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Clientes iniciais / empatia</a:t>
            </a:r>
            <a:endParaRPr lang="pt-BR" sz="2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lvl="2">
              <a:buClr>
                <a:srgbClr val="00B0F0"/>
              </a:buClr>
              <a:buSzPct val="80000"/>
              <a:buFont typeface="HoloLens MDL2 Assets" panose="050A0102010101010101" pitchFamily="18" charset="0"/>
              <a:buChar char=""/>
            </a:pPr>
            <a:r>
              <a:rPr lang="pt-BR" sz="28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 </a:t>
            </a:r>
            <a:r>
              <a:rPr lang="pt-BR" sz="32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persona </a:t>
            </a:r>
            <a:r>
              <a:rPr lang="pt-BR" sz="24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(representação ideal do cliente)</a:t>
            </a:r>
          </a:p>
          <a:p>
            <a:pPr lvl="2">
              <a:buClr>
                <a:srgbClr val="00B0F0"/>
              </a:buClr>
              <a:buSzPct val="80000"/>
              <a:buFont typeface="HoloLens MDL2 Assets" panose="050A0102010101010101" pitchFamily="18" charset="0"/>
              <a:buChar char="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 </a:t>
            </a:r>
            <a:r>
              <a:rPr lang="pt-BR" sz="32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jornada do cliente no atendimento de sua ‘necessidade’</a:t>
            </a:r>
          </a:p>
          <a:p>
            <a:pPr lvl="3">
              <a:buClr>
                <a:srgbClr val="0070C0"/>
              </a:buClr>
              <a:buSzPct val="80000"/>
              <a:buFont typeface="HoloLens MDL2 Assets" panose="050A0102010101010101" pitchFamily="18" charset="0"/>
              <a:buChar char=""/>
            </a:pPr>
            <a:r>
              <a:rPr lang="pt-BR" sz="2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como cliente toma conhecimento do produto</a:t>
            </a:r>
          </a:p>
          <a:p>
            <a:pPr lvl="3">
              <a:buClr>
                <a:srgbClr val="0070C0"/>
              </a:buClr>
              <a:buSzPct val="80000"/>
              <a:buFont typeface="HoloLens MDL2 Assets" panose="050A0102010101010101" pitchFamily="18" charset="0"/>
              <a:buChar char=""/>
            </a:pPr>
            <a:r>
              <a:rPr lang="pt-BR" sz="2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como é o processo de compra</a:t>
            </a:r>
          </a:p>
          <a:p>
            <a:pPr lvl="3">
              <a:buClr>
                <a:srgbClr val="0070C0"/>
              </a:buClr>
              <a:buSzPct val="80000"/>
              <a:buFont typeface="HoloLens MDL2 Assets" panose="050A0102010101010101" pitchFamily="18" charset="0"/>
              <a:buChar char=""/>
            </a:pPr>
            <a:r>
              <a:rPr lang="pt-BR" sz="2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como é o processo de recebimento</a:t>
            </a:r>
          </a:p>
          <a:p>
            <a:pPr lvl="3">
              <a:buClr>
                <a:srgbClr val="0070C0"/>
              </a:buClr>
              <a:buSzPct val="80000"/>
              <a:buFont typeface="HoloLens MDL2 Assets" panose="050A0102010101010101" pitchFamily="18" charset="0"/>
              <a:buChar char=""/>
            </a:pPr>
            <a:r>
              <a:rPr lang="pt-BR" sz="2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como é o uso, em que situações</a:t>
            </a:r>
          </a:p>
          <a:p>
            <a:pPr lvl="3">
              <a:buClr>
                <a:srgbClr val="0070C0"/>
              </a:buClr>
              <a:buSzPct val="80000"/>
              <a:buFont typeface="HoloLens MDL2 Assets" panose="050A0102010101010101" pitchFamily="18" charset="0"/>
              <a:buChar char=""/>
            </a:pPr>
            <a:r>
              <a:rPr lang="pt-BR" sz="2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como é o processo de manutenção e extensão do ciclo de vida</a:t>
            </a:r>
          </a:p>
          <a:p>
            <a:pPr lvl="3">
              <a:buClr>
                <a:srgbClr val="0070C0"/>
              </a:buClr>
              <a:buSzPct val="80000"/>
              <a:buFont typeface="HoloLens MDL2 Assets" panose="050A0102010101010101" pitchFamily="18" charset="0"/>
              <a:buChar char=""/>
            </a:pPr>
            <a:r>
              <a:rPr lang="pt-BR" sz="20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como é o processo de reciclagem, descarte e reuso</a:t>
            </a: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76176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841546"/>
            <a:ext cx="12151659" cy="6016454"/>
          </a:xfrm>
        </p:spPr>
        <p:txBody>
          <a:bodyPr>
            <a:noAutofit/>
          </a:bodyPr>
          <a:lstStyle/>
          <a:p>
            <a:pPr marL="0" indent="0" algn="ctr">
              <a:spcAft>
                <a:spcPts val="1800"/>
              </a:spcAft>
              <a:buClr>
                <a:srgbClr val="C00000"/>
              </a:buClr>
              <a:buSzPct val="70000"/>
              <a:buNone/>
            </a:pPr>
            <a:r>
              <a:rPr lang="pt-BR" sz="40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Após criar oportunidade e expandir rede de recursos (ecossistema) </a:t>
            </a:r>
            <a:r>
              <a:rPr lang="pt-BR" sz="40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criação de artefatos</a:t>
            </a:r>
            <a:endParaRPr lang="pt-BR" sz="3600" dirty="0">
              <a:solidFill>
                <a:srgbClr val="00B0F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r>
              <a:rPr lang="pt-BR" sz="36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Jornada do cliente 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apreensão dos requisitos mínimos iniciais do produto/serviço</a:t>
            </a: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r>
              <a:rPr lang="pt-BR" sz="36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Prototipação</a:t>
            </a:r>
          </a:p>
          <a:p>
            <a:pPr marL="1246188" lvl="2" indent="-331788">
              <a:buClr>
                <a:srgbClr val="0070C0"/>
              </a:buClr>
              <a:buSzPct val="65000"/>
              <a:buFont typeface="HoloLens MDL2 Assets" panose="050A0102010101010101" pitchFamily="18" charset="0"/>
              <a:buChar char=""/>
            </a:pPr>
            <a:r>
              <a:rPr lang="pt-BR" sz="24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interação com clientes potenciais para chegar aos atributos mínimos para que eles adotem a inovação</a:t>
            </a:r>
          </a:p>
          <a:p>
            <a:pPr marL="1246188" lvl="2" indent="-331788">
              <a:buClr>
                <a:srgbClr val="0070C0"/>
              </a:buClr>
              <a:buSzPct val="65000"/>
              <a:buFont typeface="HoloLens MDL2 Assets" panose="050A0102010101010101" pitchFamily="18" charset="0"/>
              <a:buChar char=""/>
            </a:pPr>
            <a:r>
              <a:rPr lang="pt-BR" sz="24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forma de reduzir incertezas (tecnológicas, de mercado)</a:t>
            </a: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  <a:p>
            <a:pPr marL="539750" indent="-539750">
              <a:buClr>
                <a:srgbClr val="C00000"/>
              </a:buClr>
              <a:buSzPct val="45000"/>
              <a:buFont typeface="HoloLens MDL2 Assets" panose="050A0102010101010101" pitchFamily="18" charset="0"/>
              <a:buChar char=""/>
            </a:pPr>
            <a:r>
              <a:rPr lang="pt-BR" sz="36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Desenvolver plataforma de geração de valor, não produto</a:t>
            </a:r>
          </a:p>
          <a:p>
            <a:pPr marL="0" indent="0">
              <a:buClr>
                <a:srgbClr val="C00000"/>
              </a:buClr>
              <a:buSzPct val="45000"/>
              <a:buNone/>
            </a:pPr>
            <a:endParaRPr lang="pt-BR" sz="36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</p:txBody>
      </p:sp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8"/>
            <a:ext cx="11353800" cy="1325563"/>
          </a:xfrm>
        </p:spPr>
        <p:txBody>
          <a:bodyPr>
            <a:normAutofit/>
          </a:bodyPr>
          <a:lstStyle/>
          <a:p>
            <a:pPr algn="l"/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Design </a:t>
            </a:r>
            <a:r>
              <a:rPr lang="pt-BR" i="1" dirty="0" err="1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thinking</a:t>
            </a:r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32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(no ciclo de geração de valor)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02318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aixaDeTexto 3"/>
          <p:cNvSpPr txBox="1">
            <a:spLocks noChangeArrowheads="1"/>
          </p:cNvSpPr>
          <p:nvPr/>
        </p:nvSpPr>
        <p:spPr bwMode="auto">
          <a:xfrm>
            <a:off x="9696450" y="115888"/>
            <a:ext cx="97155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395" name="Retângulo 4"/>
          <p:cNvSpPr>
            <a:spLocks noChangeArrowheads="1"/>
          </p:cNvSpPr>
          <p:nvPr/>
        </p:nvSpPr>
        <p:spPr bwMode="auto">
          <a:xfrm>
            <a:off x="-1" y="230058"/>
            <a:ext cx="12151659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5000"/>
              <a:buBlip>
                <a:blip r:embed="rId3"/>
              </a:buBlip>
              <a:defRPr sz="32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70000"/>
              <a:buBlip>
                <a:blip r:embed="rId4"/>
              </a:buBlip>
              <a:defRPr sz="28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60000"/>
              <a:buBlip>
                <a:blip r:embed="rId5"/>
              </a:buBlip>
              <a:defRPr sz="240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33CC33"/>
              </a:buClr>
              <a:buSzPct val="65000"/>
              <a:buFont typeface="Wingdings" panose="05000000000000000000" pitchFamily="2" charset="2"/>
              <a:buChar char="ü"/>
              <a:defRPr sz="20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dirty="0">
                <a:solidFill>
                  <a:srgbClr val="C00000"/>
                </a:solidFill>
              </a:rPr>
              <a:t>”O grande segredo é reduzir o custo do erro ao nível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dirty="0">
                <a:solidFill>
                  <a:srgbClr val="C00000"/>
                </a:solidFill>
              </a:rPr>
              <a:t>mais baixo possível para poder errar o máximo  que conseguir.”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280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dirty="0">
                <a:solidFill>
                  <a:srgbClr val="0000CC"/>
                </a:solidFill>
              </a:rPr>
              <a:t>"Um </a:t>
            </a:r>
            <a:r>
              <a:rPr lang="pt-BR" altLang="pt-BR" dirty="0" err="1">
                <a:solidFill>
                  <a:srgbClr val="0000CC"/>
                </a:solidFill>
              </a:rPr>
              <a:t>MVP</a:t>
            </a:r>
            <a:r>
              <a:rPr lang="pt-BR" altLang="pt-BR" dirty="0">
                <a:solidFill>
                  <a:srgbClr val="0000CC"/>
                </a:solidFill>
              </a:rPr>
              <a:t> não é apenas uma versão podada do produto final (ou uma maneira de entregar o produto um pouco mais cedo). Na verdade, o </a:t>
            </a:r>
            <a:r>
              <a:rPr lang="pt-BR" altLang="pt-BR" dirty="0" err="1">
                <a:solidFill>
                  <a:srgbClr val="0000CC"/>
                </a:solidFill>
              </a:rPr>
              <a:t>MVP</a:t>
            </a:r>
            <a:r>
              <a:rPr lang="pt-BR" altLang="pt-BR" dirty="0">
                <a:solidFill>
                  <a:srgbClr val="0000CC"/>
                </a:solidFill>
              </a:rPr>
              <a:t> não precisa nem ser um produto. E não é algo que você constrói apenas uma vez para considerar seu trabalho realizado. Um </a:t>
            </a:r>
            <a:r>
              <a:rPr lang="pt-BR" altLang="pt-BR" dirty="0" err="1">
                <a:solidFill>
                  <a:srgbClr val="0000CC"/>
                </a:solidFill>
              </a:rPr>
              <a:t>MVP</a:t>
            </a:r>
            <a:r>
              <a:rPr lang="pt-BR" altLang="pt-BR" dirty="0">
                <a:solidFill>
                  <a:srgbClr val="0000CC"/>
                </a:solidFill>
              </a:rPr>
              <a:t> é um processo que você repete constantemente: identifique sua hipótese mais arriscada, ache a menor experiência possível para testar essa suposição e use os resultados da experiência para corrigir o curso das coisas” –</a:t>
            </a:r>
            <a:br>
              <a:rPr lang="pt-BR" altLang="pt-BR" dirty="0">
                <a:solidFill>
                  <a:srgbClr val="0000CC"/>
                </a:solidFill>
              </a:rPr>
            </a:br>
            <a:r>
              <a:rPr lang="pt-BR" altLang="pt-BR" dirty="0">
                <a:solidFill>
                  <a:srgbClr val="0000CC"/>
                </a:solidFill>
              </a:rPr>
              <a:t>  </a:t>
            </a:r>
            <a:r>
              <a:rPr lang="pt-BR" altLang="pt-BR" b="1" dirty="0" err="1">
                <a:solidFill>
                  <a:srgbClr val="0000CC"/>
                </a:solidFill>
              </a:rPr>
              <a:t>MVP</a:t>
            </a:r>
            <a:r>
              <a:rPr lang="pt-BR" altLang="pt-BR" b="1" dirty="0">
                <a:solidFill>
                  <a:srgbClr val="0000CC"/>
                </a:solidFill>
              </a:rPr>
              <a:t> não é um produto, é um processo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pt-BR" altLang="pt-BR" sz="2400" b="1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pt-BR" altLang="pt-BR" sz="1600" b="1" dirty="0">
                <a:solidFill>
                  <a:srgbClr val="000000"/>
                </a:solidFill>
              </a:rPr>
              <a:t>Sam Altman, da aceleradora </a:t>
            </a:r>
            <a:r>
              <a:rPr lang="pt-BR" altLang="pt-BR" sz="1600" dirty="0">
                <a:solidFill>
                  <a:srgbClr val="000000"/>
                </a:solidFill>
              </a:rPr>
              <a:t>Y </a:t>
            </a:r>
            <a:r>
              <a:rPr lang="pt-BR" altLang="pt-BR" sz="1600" dirty="0" err="1">
                <a:solidFill>
                  <a:srgbClr val="000000"/>
                </a:solidFill>
              </a:rPr>
              <a:t>Combinator</a:t>
            </a:r>
            <a:endParaRPr lang="pt-BR" altLang="pt-BR" sz="1600" dirty="0">
              <a:solidFill>
                <a:srgbClr val="000000"/>
              </a:solidFill>
            </a:endParaRPr>
          </a:p>
        </p:txBody>
      </p:sp>
      <p:pic>
        <p:nvPicPr>
          <p:cNvPr id="4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770312"/>
      </p:ext>
    </p:extLst>
  </p:cSld>
  <p:clrMapOvr>
    <a:masterClrMapping/>
  </p:clrMapOvr>
  <p:transition spd="med">
    <p:check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4" name="Image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697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473" y="0"/>
            <a:ext cx="12297131" cy="7356764"/>
          </a:xfrm>
          <a:prstGeom prst="rect">
            <a:avLst/>
          </a:prstGeom>
        </p:spPr>
      </p:pic>
      <p:pic>
        <p:nvPicPr>
          <p:cNvPr id="5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103909" y="0"/>
            <a:ext cx="5008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</a:rPr>
              <a:t>Ciclo de geração de valor na ação empreendedora </a:t>
            </a:r>
            <a:r>
              <a:rPr lang="pt-BR" sz="2400" dirty="0">
                <a:solidFill>
                  <a:srgbClr val="C00000"/>
                </a:solidFill>
              </a:rPr>
              <a:t>(fig. 7.10)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3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8"/>
            <a:ext cx="11353800" cy="1325563"/>
          </a:xfrm>
        </p:spPr>
        <p:txBody>
          <a:bodyPr>
            <a:normAutofit/>
          </a:bodyPr>
          <a:lstStyle/>
          <a:p>
            <a:pPr algn="l"/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Business </a:t>
            </a:r>
            <a:r>
              <a:rPr lang="pt-BR" i="1" dirty="0" err="1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thinking</a:t>
            </a:r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pt-BR" sz="32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(no ciclo de geração de valor)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841546"/>
            <a:ext cx="12151659" cy="6016454"/>
          </a:xfrm>
        </p:spPr>
        <p:txBody>
          <a:bodyPr>
            <a:noAutofit/>
          </a:bodyPr>
          <a:lstStyle/>
          <a:p>
            <a:pPr marL="0" indent="0" algn="ctr">
              <a:spcAft>
                <a:spcPts val="1800"/>
              </a:spcAft>
              <a:buClr>
                <a:srgbClr val="C00000"/>
              </a:buClr>
              <a:buSzPct val="70000"/>
              <a:buNone/>
            </a:pPr>
            <a:r>
              <a:rPr lang="pt-BR" sz="40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Modelo de negócios</a:t>
            </a:r>
            <a:endParaRPr lang="pt-BR" sz="3600" dirty="0">
              <a:solidFill>
                <a:srgbClr val="00B0F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Como capturar valor a partir da inovação</a:t>
            </a:r>
          </a:p>
          <a:p>
            <a:pPr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Integração das dimensões do </a:t>
            </a:r>
            <a:r>
              <a:rPr lang="pt-BR" sz="32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canvas</a:t>
            </a:r>
          </a:p>
          <a:p>
            <a:pPr marL="539750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sz="3200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Como orquestrar e organizar recursos para criação, entrega, captura e compartilhamento de valor</a:t>
            </a:r>
          </a:p>
          <a:p>
            <a:pPr marL="539750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Busca de </a:t>
            </a:r>
            <a:r>
              <a:rPr lang="pt-BR" sz="3200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replicabilidade</a:t>
            </a: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</a:t>
            </a:r>
            <a:r>
              <a:rPr lang="pt-BR" sz="36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– 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volume, qualidade, custo, prazo</a:t>
            </a:r>
          </a:p>
          <a:p>
            <a:pPr marL="996950" lvl="1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Só </a:t>
            </a:r>
            <a:r>
              <a:rPr lang="pt-BR" i="1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early</a:t>
            </a:r>
            <a:r>
              <a:rPr lang="pt-BR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</a:t>
            </a:r>
            <a:r>
              <a:rPr lang="pt-BR" i="1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adopters</a:t>
            </a:r>
            <a:r>
              <a:rPr lang="pt-BR" i="1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tendem a aceitar problemas de qualidade, design, preço ...</a:t>
            </a:r>
          </a:p>
          <a:p>
            <a:pPr marL="996950" lvl="1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Com o tempo, novos entrantes tendem a trazer desafios </a:t>
            </a:r>
          </a:p>
          <a:p>
            <a:pPr marL="539750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Modelo de negócios: da firma e do ecossistema</a:t>
            </a:r>
          </a:p>
          <a:p>
            <a:pPr marL="539750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Crescimento não é linear</a:t>
            </a:r>
            <a:endParaRPr lang="pt-BR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  <a:p>
            <a:pPr marL="996950" lvl="1" indent="-539750">
              <a:buClr>
                <a:schemeClr val="accent6">
                  <a:lumMod val="75000"/>
                </a:schemeClr>
              </a:buClr>
              <a:buSzPct val="95000"/>
              <a:buFont typeface="Webdings" panose="05030102010509060703" pitchFamily="18" charset="2"/>
              <a:buChar char=""/>
            </a:pPr>
            <a:endParaRPr lang="pt-BR" sz="14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SzPct val="45000"/>
              <a:buNone/>
            </a:pPr>
            <a:endParaRPr lang="pt-BR" sz="36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784436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473" y="0"/>
            <a:ext cx="12297131" cy="7356764"/>
          </a:xfrm>
          <a:prstGeom prst="rect">
            <a:avLst/>
          </a:prstGeom>
        </p:spPr>
      </p:pic>
      <p:pic>
        <p:nvPicPr>
          <p:cNvPr id="5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103909" y="0"/>
            <a:ext cx="5008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</a:rPr>
              <a:t>Ciclo de geração de valor na ação empreendedora </a:t>
            </a:r>
            <a:r>
              <a:rPr lang="pt-BR" sz="2400" dirty="0">
                <a:solidFill>
                  <a:srgbClr val="C00000"/>
                </a:solidFill>
              </a:rPr>
              <a:t>(fig. 7.10)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51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8"/>
            <a:ext cx="11353800" cy="1325563"/>
          </a:xfrm>
        </p:spPr>
        <p:txBody>
          <a:bodyPr>
            <a:normAutofit/>
          </a:bodyPr>
          <a:lstStyle/>
          <a:p>
            <a:pPr algn="l"/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Pivotamentos </a:t>
            </a:r>
            <a:r>
              <a:rPr lang="pt-BR" sz="32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(no ciclo de geração de valor)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1087508"/>
            <a:ext cx="12151659" cy="6016454"/>
          </a:xfrm>
        </p:spPr>
        <p:txBody>
          <a:bodyPr>
            <a:noAutofit/>
          </a:bodyPr>
          <a:lstStyle/>
          <a:p>
            <a:pPr marL="0" indent="0" algn="ctr">
              <a:spcAft>
                <a:spcPts val="1800"/>
              </a:spcAft>
              <a:buClr>
                <a:srgbClr val="C00000"/>
              </a:buClr>
              <a:buSzPct val="70000"/>
              <a:buNone/>
            </a:pPr>
            <a:r>
              <a:rPr lang="pt-BR" sz="36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Reconfiguração da base de recursos do empreendimento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Empreendedores (e empresas estabelecidas) podem ficar presos às ideias iniciais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endParaRPr lang="pt-BR" sz="18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Exemplos de pivotamento</a:t>
            </a:r>
          </a:p>
          <a:p>
            <a:pPr marL="893763" lvl="1" indent="-269875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Buscapé, </a:t>
            </a:r>
            <a:r>
              <a:rPr lang="pt-BR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Easy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Taxi, Cubo</a:t>
            </a:r>
          </a:p>
          <a:p>
            <a:pPr marL="623888" lvl="1" indent="0">
              <a:buClr>
                <a:srgbClr val="C00000"/>
              </a:buClr>
              <a:buSzPct val="95000"/>
              <a:buNone/>
            </a:pPr>
            <a:endParaRPr lang="pt-BR" sz="18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sz="3200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Questões</a:t>
            </a:r>
          </a:p>
          <a:p>
            <a:pPr marL="996950" lvl="1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Pivotar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pode afastar de oportunidade promissora, a ser explorada por outros</a:t>
            </a:r>
          </a:p>
          <a:p>
            <a:pPr marL="996950" lvl="1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dirty="0" err="1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Pivotar</a:t>
            </a: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pode transmitir incertezas para o ecossistema e afetar o negócio </a:t>
            </a:r>
          </a:p>
          <a:p>
            <a:pPr marL="82550" lvl="1" indent="0">
              <a:buClr>
                <a:schemeClr val="accent6">
                  <a:lumMod val="75000"/>
                </a:schemeClr>
              </a:buClr>
              <a:buSzPct val="95000"/>
              <a:buNone/>
            </a:pPr>
            <a:r>
              <a:rPr lang="pt-BR" dirty="0">
                <a:solidFill>
                  <a:srgbClr val="0000CC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 </a:t>
            </a:r>
            <a:endParaRPr lang="pt-BR" sz="10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SzPct val="45000"/>
              <a:buNone/>
            </a:pPr>
            <a:endParaRPr lang="pt-BR" sz="36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1676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8"/>
            <a:ext cx="11353800" cy="1325563"/>
          </a:xfrm>
        </p:spPr>
        <p:txBody>
          <a:bodyPr>
            <a:normAutofit fontScale="90000"/>
          </a:bodyPr>
          <a:lstStyle/>
          <a:p>
            <a:pPr algn="l"/>
            <a:r>
              <a:rPr lang="pt-BR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Lidando com incertezas </a:t>
            </a:r>
            <a:r>
              <a:rPr lang="pt-BR" sz="3200" i="1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(no ciclo de geração de valor)</a:t>
            </a:r>
            <a:br>
              <a:rPr lang="pt-BR" sz="28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929666"/>
            <a:ext cx="12151659" cy="6016454"/>
          </a:xfrm>
        </p:spPr>
        <p:txBody>
          <a:bodyPr>
            <a:noAutofit/>
          </a:bodyPr>
          <a:lstStyle/>
          <a:p>
            <a:pPr marL="82550" indent="0" algn="ctr">
              <a:buClr>
                <a:srgbClr val="C00000"/>
              </a:buClr>
              <a:buSzPct val="95000"/>
              <a:buNone/>
            </a:pPr>
            <a:r>
              <a:rPr lang="pt-BR" sz="32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Incerteza:</a:t>
            </a:r>
            <a:br>
              <a:rPr lang="pt-BR" sz="32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32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percebida pelos atores a partir da propagação de informação</a:t>
            </a:r>
          </a:p>
          <a:p>
            <a:pPr marL="82550" indent="0" algn="ctr">
              <a:buClr>
                <a:srgbClr val="C00000"/>
              </a:buClr>
              <a:buSzPct val="95000"/>
              <a:buNone/>
            </a:pPr>
            <a:r>
              <a:rPr lang="pt-BR" sz="26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Percepção: </a:t>
            </a:r>
            <a:r>
              <a:rPr lang="pt-BR" sz="2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diferentes narrativas ou reações (“valoração”)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Extensão: </a:t>
            </a:r>
            <a:r>
              <a:rPr lang="pt-BR" sz="2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num. de atores impactados ou que percebem uma incerteza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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Interdependência: </a:t>
            </a:r>
            <a:r>
              <a:rPr lang="pt-BR" sz="2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incerteza afeta o desempenho de diferentes atores</a:t>
            </a:r>
          </a:p>
          <a:p>
            <a:pPr marL="82550" indent="0">
              <a:buClr>
                <a:srgbClr val="C00000"/>
              </a:buClr>
              <a:buSzPct val="95000"/>
              <a:buNone/>
            </a:pPr>
            <a:endParaRPr lang="pt-BR" sz="18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SzPct val="45000"/>
              <a:buNone/>
            </a:pPr>
            <a:endParaRPr lang="pt-BR" sz="36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336176" y="4074458"/>
            <a:ext cx="11510683" cy="2783541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96950" lvl="1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"/>
            </a:pPr>
            <a:r>
              <a:rPr lang="pt-BR" sz="28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Incerteza individual</a:t>
            </a:r>
          </a:p>
          <a:p>
            <a:pPr marL="1454150" lvl="2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"/>
            </a:pPr>
            <a:r>
              <a:rPr lang="pt-BR" sz="24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Extensão </a:t>
            </a:r>
            <a:r>
              <a:rPr lang="pt-BR" sz="24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única firma</a:t>
            </a:r>
          </a:p>
          <a:p>
            <a:pPr marL="1454150" lvl="2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"/>
            </a:pPr>
            <a:r>
              <a:rPr lang="pt-BR" sz="24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Não interdependente, não afeta o desempenho de diferentes atores</a:t>
            </a:r>
          </a:p>
          <a:p>
            <a:pPr marL="1454150" lvl="2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"/>
            </a:pPr>
            <a:r>
              <a:rPr lang="pt-BR" sz="24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É percebida como incerteza por apenas 1 ator</a:t>
            </a:r>
          </a:p>
          <a:p>
            <a:pPr marL="996950" lvl="1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"/>
            </a:pPr>
            <a:r>
              <a:rPr lang="pt-BR" sz="28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Incerteza coletiva</a:t>
            </a:r>
          </a:p>
          <a:p>
            <a:pPr marL="1454150" lvl="2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"/>
            </a:pPr>
            <a:r>
              <a:rPr lang="pt-BR" sz="2400" dirty="0">
                <a:solidFill>
                  <a:srgbClr val="FFFF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Mais de 1 firma, interdependente, percebida por mais de 1 ator </a:t>
            </a:r>
            <a:endParaRPr lang="pt-BR" sz="2400" dirty="0">
              <a:solidFill>
                <a:srgbClr val="FFFF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9027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5" y="0"/>
            <a:ext cx="11996914" cy="6789194"/>
          </a:xfrm>
          <a:prstGeom prst="rect">
            <a:avLst/>
          </a:prstGeom>
        </p:spPr>
      </p:pic>
      <p:pic>
        <p:nvPicPr>
          <p:cNvPr id="5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6089071" y="94129"/>
            <a:ext cx="4572001" cy="95410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</a:rPr>
              <a:t>Abordagem integrada da ação empreendedora</a:t>
            </a:r>
            <a:r>
              <a:rPr lang="pt-BR" sz="2400" dirty="0">
                <a:solidFill>
                  <a:srgbClr val="C00000"/>
                </a:solidFill>
              </a:rPr>
              <a:t> </a:t>
            </a:r>
            <a:r>
              <a:rPr lang="pt-BR" sz="2800" dirty="0">
                <a:solidFill>
                  <a:srgbClr val="C00000"/>
                </a:solidFill>
              </a:rPr>
              <a:t> </a:t>
            </a:r>
            <a:r>
              <a:rPr lang="pt-BR" sz="1600" dirty="0">
                <a:solidFill>
                  <a:srgbClr val="C00000"/>
                </a:solidFill>
              </a:rPr>
              <a:t>(</a:t>
            </a:r>
            <a:r>
              <a:rPr lang="pt-BR" sz="1600" dirty="0" err="1">
                <a:solidFill>
                  <a:srgbClr val="C00000"/>
                </a:solidFill>
              </a:rPr>
              <a:t>fig</a:t>
            </a:r>
            <a:r>
              <a:rPr lang="pt-BR" sz="1600" dirty="0">
                <a:solidFill>
                  <a:srgbClr val="C00000"/>
                </a:solidFill>
              </a:rPr>
              <a:t> 7.3)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1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/>
          <p:nvPr/>
        </p:nvSpPr>
        <p:spPr>
          <a:xfrm>
            <a:off x="631856" y="102714"/>
            <a:ext cx="9440611" cy="13849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C00000"/>
                </a:solidFill>
              </a:rPr>
              <a:t>Processo da efetuação </a:t>
            </a:r>
            <a:r>
              <a:rPr lang="pt-BR" sz="1600" dirty="0">
                <a:solidFill>
                  <a:srgbClr val="C00000"/>
                </a:solidFill>
              </a:rPr>
              <a:t>{</a:t>
            </a:r>
            <a:r>
              <a:rPr lang="pt-BR" sz="1600" dirty="0" err="1">
                <a:solidFill>
                  <a:srgbClr val="C00000"/>
                </a:solidFill>
              </a:rPr>
              <a:t>fig</a:t>
            </a:r>
            <a:r>
              <a:rPr lang="pt-BR" sz="1600" dirty="0">
                <a:solidFill>
                  <a:srgbClr val="C00000"/>
                </a:solidFill>
              </a:rPr>
              <a:t> 7.4 </a:t>
            </a:r>
            <a:r>
              <a:rPr lang="pt-BR" sz="1100" dirty="0">
                <a:solidFill>
                  <a:srgbClr val="C00000"/>
                </a:solidFill>
              </a:rPr>
              <a:t>– </a:t>
            </a:r>
            <a:r>
              <a:rPr lang="pt-BR" sz="1100" dirty="0" err="1">
                <a:solidFill>
                  <a:srgbClr val="C00000"/>
                </a:solidFill>
              </a:rPr>
              <a:t>Wiltbank</a:t>
            </a:r>
            <a:r>
              <a:rPr lang="pt-BR" sz="1100" dirty="0">
                <a:solidFill>
                  <a:srgbClr val="C00000"/>
                </a:solidFill>
              </a:rPr>
              <a:t> et al (2006)</a:t>
            </a:r>
            <a:r>
              <a:rPr lang="pt-BR" sz="1600" dirty="0">
                <a:solidFill>
                  <a:srgbClr val="C00000"/>
                </a:solidFill>
              </a:rPr>
              <a:t>}</a:t>
            </a:r>
          </a:p>
          <a:p>
            <a:r>
              <a:rPr lang="pt-BR" sz="2800" dirty="0">
                <a:solidFill>
                  <a:srgbClr val="C00000"/>
                </a:solidFill>
              </a:rPr>
              <a:t>O que consigo fazer a partir de conjunjo de meios?</a:t>
            </a:r>
            <a:br>
              <a:rPr lang="pt-BR" sz="2800" dirty="0">
                <a:solidFill>
                  <a:srgbClr val="C00000"/>
                </a:solidFill>
              </a:rPr>
            </a:br>
            <a:r>
              <a:rPr lang="pt-BR" sz="2800" dirty="0">
                <a:solidFill>
                  <a:srgbClr val="C00000"/>
                </a:solidFill>
              </a:rPr>
              <a:t>Ambiente construído pelo empreendedor e </a:t>
            </a:r>
            <a:r>
              <a:rPr lang="pt-BR" sz="2800" i="1" dirty="0">
                <a:solidFill>
                  <a:srgbClr val="C00000"/>
                </a:solidFill>
              </a:rPr>
              <a:t>stakeholders</a:t>
            </a:r>
            <a:endParaRPr lang="en-US" sz="2800" i="1" dirty="0">
              <a:solidFill>
                <a:srgbClr val="C00000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" y="1677169"/>
            <a:ext cx="12232477" cy="4836178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36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8"/>
            <a:ext cx="11353800" cy="1325563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Síntese da lógica de efetuação</a:t>
            </a: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929666"/>
            <a:ext cx="12151659" cy="6016454"/>
          </a:xfrm>
        </p:spPr>
        <p:txBody>
          <a:bodyPr>
            <a:noAutofit/>
          </a:bodyPr>
          <a:lstStyle/>
          <a:p>
            <a:pPr marL="82550" indent="0" algn="ctr">
              <a:buClr>
                <a:srgbClr val="C00000"/>
              </a:buClr>
              <a:buSzPct val="95000"/>
              <a:buNone/>
            </a:pPr>
            <a:r>
              <a:rPr lang="pt-BR" sz="26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Meios dirigem a ação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Minimizar perdas ao invés de maximizar retornos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Parcerias ao invés de análises competitivas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Alavancar mais do que evitar contingências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endParaRPr lang="pt-BR" sz="3200" dirty="0">
              <a:solidFill>
                <a:srgbClr val="00206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82550" indent="0">
              <a:buClr>
                <a:srgbClr val="C00000"/>
              </a:buClr>
              <a:buSzPct val="95000"/>
              <a:buNone/>
            </a:pPr>
            <a:endParaRPr lang="pt-BR" sz="18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SzPct val="45000"/>
              <a:buNone/>
            </a:pPr>
            <a:endParaRPr lang="pt-BR" sz="36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Retângulo de cantos arredondados 2"/>
          <p:cNvSpPr/>
          <p:nvPr/>
        </p:nvSpPr>
        <p:spPr>
          <a:xfrm>
            <a:off x="1929552" y="4572000"/>
            <a:ext cx="8579014" cy="196951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rgbClr val="C00000"/>
                </a:solidFill>
              </a:rPr>
              <a:t>Construir o futuro ao invés de prevê-lo</a:t>
            </a:r>
            <a:endParaRPr lang="en-US" sz="4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5819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4" y="39850"/>
            <a:ext cx="8367999" cy="6818150"/>
          </a:xfrm>
          <a:prstGeom prst="rect">
            <a:avLst/>
          </a:prstGeom>
        </p:spPr>
      </p:pic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693624" y="1330406"/>
            <a:ext cx="3458036" cy="4155994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Gerenciando incertezas coletivas:</a:t>
            </a:r>
            <a:b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32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fontes de propagação </a:t>
            </a:r>
            <a:br>
              <a:rPr lang="pt-BR" sz="32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32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</a:t>
            </a:r>
            <a:br>
              <a:rPr lang="pt-BR" sz="32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32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incertezas</a:t>
            </a:r>
            <a:br>
              <a:rPr lang="pt-BR" sz="32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14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fig.7.5</a:t>
            </a:r>
            <a:endParaRPr lang="en-US" sz="12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1344231"/>
      </p:ext>
    </p:extLst>
  </p:cSld>
  <p:clrMapOvr>
    <a:masterClrMapping/>
  </p:clrMapOvr>
  <p:transition spd="slow"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0" y="-47427"/>
            <a:ext cx="11353800" cy="947760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Gerenciando incertezas coletivas</a:t>
            </a:r>
            <a:endParaRPr lang="en-US" sz="28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idx="1"/>
          </p:nvPr>
        </p:nvSpPr>
        <p:spPr>
          <a:xfrm>
            <a:off x="40341" y="707174"/>
            <a:ext cx="12151659" cy="6238946"/>
          </a:xfrm>
        </p:spPr>
        <p:txBody>
          <a:bodyPr>
            <a:noAutofit/>
          </a:bodyPr>
          <a:lstStyle/>
          <a:p>
            <a:pPr marL="82550" indent="0" algn="ctr">
              <a:buClr>
                <a:srgbClr val="C00000"/>
              </a:buClr>
              <a:buSzPct val="95000"/>
              <a:buNone/>
            </a:pPr>
            <a:r>
              <a:rPr lang="pt-BR" sz="2600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sz="32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Mapear o ecossistema</a:t>
            </a:r>
          </a:p>
          <a:p>
            <a:pPr marL="996950" lvl="1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Construir rede de atores comprometidos com o projeto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Identificar incertezas no ecossistema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Compreender a extensão das incertezas</a:t>
            </a:r>
          </a:p>
          <a:p>
            <a:pPr marL="996950" lvl="1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“</a:t>
            </a: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ligar” incertezas </a:t>
            </a: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sym typeface="Wingdings" panose="05000000000000000000" pitchFamily="2" charset="2"/>
              </a:rPr>
              <a:t> observação, workshops, reuniões</a:t>
            </a: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</a:p>
          <a:p>
            <a:pPr marL="539750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Definir a melhor abordagem para lidar com incertezas coletivas</a:t>
            </a:r>
          </a:p>
          <a:p>
            <a:pPr marL="996950" lvl="1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Construir rede de aliados</a:t>
            </a:r>
          </a:p>
          <a:p>
            <a:pPr marL="996950" lvl="1" indent="-457200">
              <a:spcAft>
                <a:spcPts val="1800"/>
              </a:spcAft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Criar </a:t>
            </a:r>
            <a:r>
              <a:rPr lang="pt-BR" i="1" dirty="0" err="1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template</a:t>
            </a:r>
            <a:r>
              <a:rPr lang="pt-BR" dirty="0">
                <a:solidFill>
                  <a:srgbClr val="00B0F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comum (visão comum de futuro, de como agir)</a:t>
            </a:r>
          </a:p>
          <a:p>
            <a:pPr marL="539750" indent="-457200">
              <a:buClr>
                <a:srgbClr val="C00000"/>
              </a:buClr>
              <a:buSzPct val="95000"/>
              <a:buFont typeface="Webdings" panose="05030102010509060703" pitchFamily="18" charset="2"/>
              <a:buChar char=""/>
            </a:pPr>
            <a:endParaRPr lang="pt-BR" sz="3200" dirty="0">
              <a:solidFill>
                <a:srgbClr val="00206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82550" indent="0">
              <a:buClr>
                <a:srgbClr val="C00000"/>
              </a:buClr>
              <a:buSzPct val="95000"/>
              <a:buNone/>
            </a:pPr>
            <a:endParaRPr lang="pt-BR" sz="18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marL="0" indent="0">
              <a:buClr>
                <a:srgbClr val="C00000"/>
              </a:buClr>
              <a:buSzPct val="45000"/>
              <a:buNone/>
            </a:pPr>
            <a:endParaRPr lang="pt-BR" sz="3600" dirty="0">
              <a:solidFill>
                <a:srgbClr val="0000CC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59664527"/>
      </p:ext>
    </p:extLst>
  </p:cSld>
  <p:clrMapOvr>
    <a:masterClrMapping/>
  </p:clrMapOvr>
  <p:transition spd="slow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447972" cy="6858000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9071798" y="866173"/>
            <a:ext cx="3120202" cy="4155994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Esquema de gestão de incertezas coletivas</a:t>
            </a:r>
            <a:b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sz="1400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fig.7.6</a:t>
            </a:r>
            <a:endParaRPr lang="en-US" sz="1200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14709"/>
      </p:ext>
    </p:extLst>
  </p:cSld>
  <p:clrMapOvr>
    <a:masterClrMapping/>
  </p:clrMapOvr>
  <p:transition spd="slow"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i="1">
              <a:latin typeface="Arial" charset="0"/>
              <a:ea typeface="ＭＳ Ｐゴシック" charset="0"/>
            </a:endParaRPr>
          </a:p>
        </p:txBody>
      </p:sp>
      <p:pic>
        <p:nvPicPr>
          <p:cNvPr id="7" name="Picture 2" descr="C:\Users\Mario Sergio Salerno\Documents\POLI\PRO - ADM\Modelos - carta, templates etc\LOGOS\USP_logotipo,_transparent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70559" y="94129"/>
            <a:ext cx="11811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7437995" y="6597651"/>
            <a:ext cx="4825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Mario Sergio Salerno -  Poli-USP –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Depto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Enga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Produção 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929552" y="6172178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1279712" y="116701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Ação empreendedora e ciclo do desenvolvimento da oportunidade:</a:t>
            </a:r>
            <a:b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</a:br>
            <a:r>
              <a:rPr lang="pt-BR" dirty="0">
                <a:solidFill>
                  <a:srgbClr val="C0000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da ideia ao negócio</a:t>
            </a:r>
            <a:endParaRPr lang="en-US" dirty="0">
              <a:solidFill>
                <a:srgbClr val="C0000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78155" y="4885748"/>
            <a:ext cx="9282954" cy="1655762"/>
          </a:xfrm>
        </p:spPr>
        <p:txBody>
          <a:bodyPr>
            <a:normAutofit/>
          </a:bodyPr>
          <a:lstStyle/>
          <a:p>
            <a:r>
              <a:rPr lang="pt-BR" sz="1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Fonte: Salerno, </a:t>
            </a:r>
            <a:r>
              <a:rPr lang="pt-BR" sz="1600" dirty="0" err="1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M.S</a:t>
            </a:r>
            <a:r>
              <a:rPr lang="pt-BR" sz="1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.; Gomes, </a:t>
            </a:r>
            <a:r>
              <a:rPr lang="pt-BR" sz="1600" dirty="0" err="1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L.A.V</a:t>
            </a:r>
            <a:r>
              <a:rPr lang="pt-BR" sz="1600" dirty="0">
                <a:solidFill>
                  <a:srgbClr val="00206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 Gestão da inovação mais radical. Rio de Janeiro: Elsevier, 2018. Cap.7, p.181-212</a:t>
            </a:r>
            <a:r>
              <a:rPr lang="pt-BR" sz="1600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.</a:t>
            </a:r>
            <a:endParaRPr lang="en-US" sz="1600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0" y="3926750"/>
            <a:ext cx="19050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1046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1497</Words>
  <Application>Microsoft Office PowerPoint</Application>
  <PresentationFormat>Widescreen</PresentationFormat>
  <Paragraphs>211</Paragraphs>
  <Slides>27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Microsoft YaHei UI Light</vt:lpstr>
      <vt:lpstr>Arial</vt:lpstr>
      <vt:lpstr>Calibri</vt:lpstr>
      <vt:lpstr>Calibri Light</vt:lpstr>
      <vt:lpstr>HoloLens MDL2 Assets</vt:lpstr>
      <vt:lpstr>Webdings</vt:lpstr>
      <vt:lpstr>Tema do Office</vt:lpstr>
      <vt:lpstr>Ação empreendedora e ciclo do desenvolvimento da oportunidade: da ideia ao negócio</vt:lpstr>
      <vt:lpstr>Ação empreendedora  </vt:lpstr>
      <vt:lpstr>Oportunidade </vt:lpstr>
      <vt:lpstr>Apresentação do PowerPoint</vt:lpstr>
      <vt:lpstr>Geladeira</vt:lpstr>
      <vt:lpstr>Geladeira  http://www.geladeirasantigas.com.br/conteudo.asp?idpag=183</vt:lpstr>
      <vt:lpstr>Características da ação empreendedora  </vt:lpstr>
      <vt:lpstr>Apresentação do PowerPoint</vt:lpstr>
      <vt:lpstr>Apresentação do PowerPoint</vt:lpstr>
      <vt:lpstr>Entrepreneurial thinking (no ciclo de geração de valor)  </vt:lpstr>
      <vt:lpstr>Apresentação do PowerPoint</vt:lpstr>
      <vt:lpstr>Design thinking (no ciclo de geração de valor) </vt:lpstr>
      <vt:lpstr>Design thinking (no ciclo de geração de valor) </vt:lpstr>
      <vt:lpstr>Apresentação do PowerPoint</vt:lpstr>
      <vt:lpstr>Apresentação do PowerPoint</vt:lpstr>
      <vt:lpstr>Apresentação do PowerPoint</vt:lpstr>
      <vt:lpstr>Business thinking (no ciclo de geração de valor) </vt:lpstr>
      <vt:lpstr>Apresentação do PowerPoint</vt:lpstr>
      <vt:lpstr>Pivotamentos (no ciclo de geração de valor) </vt:lpstr>
      <vt:lpstr>Lidando com incertezas (no ciclo de geração de valor) </vt:lpstr>
      <vt:lpstr>Apresentação do PowerPoint</vt:lpstr>
      <vt:lpstr>Apresentação do PowerPoint</vt:lpstr>
      <vt:lpstr>Síntese da lógica de efetuação</vt:lpstr>
      <vt:lpstr>Gerenciando incertezas coletivas: fontes de propagação  de  incertezas fig.7.5</vt:lpstr>
      <vt:lpstr>Gerenciando incertezas coletivas</vt:lpstr>
      <vt:lpstr>Esquema de gestão de incertezas coletivas fig.7.6</vt:lpstr>
      <vt:lpstr>Ação empreendedora e ciclo do desenvolvimento da oportunidade: da ideia ao negócio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Ação empreendedora e ciclo do desenvolvimento da oportunidade: da ideia ao negócio</dc:title>
  <dc:creator>Mario Sergio Salerno</dc:creator>
  <cp:lastModifiedBy>Mario Sergio Salerno</cp:lastModifiedBy>
  <cp:revision>37</cp:revision>
  <dcterms:created xsi:type="dcterms:W3CDTF">2019-05-11T15:08:56Z</dcterms:created>
  <dcterms:modified xsi:type="dcterms:W3CDTF">2025-05-21T21:16:33Z</dcterms:modified>
</cp:coreProperties>
</file>